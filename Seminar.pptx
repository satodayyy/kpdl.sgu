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7" r:id="rId3"/>
    <p:sldId id="263" r:id="rId5"/>
    <p:sldId id="258" r:id="rId6"/>
    <p:sldId id="264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9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0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" name="Slide Number Placeholder 0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image" Target="../media/image19.png"/><Relationship Id="rId6" Type="http://schemas.openxmlformats.org/officeDocument/2006/relationships/tags" Target="../tags/tag15.xml"/><Relationship Id="rId5" Type="http://schemas.openxmlformats.org/officeDocument/2006/relationships/image" Target="../media/image18.png"/><Relationship Id="rId4" Type="http://schemas.openxmlformats.org/officeDocument/2006/relationships/tags" Target="../tags/tag14.xml"/><Relationship Id="rId3" Type="http://schemas.openxmlformats.org/officeDocument/2006/relationships/image" Target="../media/image17.png"/><Relationship Id="rId2" Type="http://schemas.openxmlformats.org/officeDocument/2006/relationships/tags" Target="../tags/tag1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2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37795" y="-103505"/>
            <a:ext cx="12479655" cy="7075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87655" y="-172720"/>
            <a:ext cx="12963525" cy="72034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90511" y="2596604"/>
            <a:ext cx="7810976" cy="16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Phân Khúc Khách Hàng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Bahnschrift" panose="020B0502040204020203" charset="0"/>
                <a:ea typeface="Calibri" panose="020F0502020204030204"/>
                <a:cs typeface="Bahnschrift" panose="020B0502040204020203" charset="0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 Trung Tâm Thương Mại</a:t>
            </a:r>
            <a:endParaRPr lang="en-US" sz="4800" b="1" i="0" u="none" strike="noStrike" cap="none">
              <a:solidFill>
                <a:srgbClr val="FFFFFF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008090" y="4223295"/>
            <a:ext cx="417567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Môn học: Khai phá dữ liệu (Data Mining)</a:t>
            </a:r>
            <a:endParaRPr lang="en-US" sz="1800" b="1" i="0" u="none" strike="noStrike" cap="none">
              <a:solidFill>
                <a:srgbClr val="38BDF8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90603" y="4779466"/>
            <a:ext cx="301064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GVHD: Đỗ Như Tài | Lớp: DDU1231</a:t>
            </a:r>
            <a:endParaRPr lang="en-US" sz="1500" b="0" i="0" u="none" strike="noStrike" cap="none">
              <a:solidFill>
                <a:srgbClr val="CBD5E1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19750" y="5465266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Google Shape;86;p13"/>
          <p:cNvSpPr txBox="1"/>
          <p:nvPr/>
        </p:nvSpPr>
        <p:spPr>
          <a:xfrm>
            <a:off x="2288301" y="99784"/>
            <a:ext cx="7810976" cy="81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4800" b="1" i="0" u="none" strike="noStrike" cap="none">
                <a:solidFill>
                  <a:srgbClr val="FFFFFF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TRƯỜNG ĐẠI HỌC SÀI </a:t>
            </a:r>
            <a:r>
              <a:rPr lang="vi-VN" altLang="en-US" sz="4800" b="1" i="0" u="none" strike="noStrike" cap="none">
                <a:solidFill>
                  <a:srgbClr val="FFFFFF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GÒN</a:t>
            </a:r>
            <a:endParaRPr lang="vi-VN" altLang="en-US" sz="4800" b="1" i="0" u="none" strike="noStrike" cap="none">
              <a:solidFill>
                <a:srgbClr val="FFFFFF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pic>
        <p:nvPicPr>
          <p:cNvPr id="5" name="Picture 4" descr="93feb59ba393eed743e9ff536b9cd56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445" y="911860"/>
            <a:ext cx="1514475" cy="151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819150" y="2557462"/>
            <a:ext cx="381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custDataLst>
              <p:tags r:id="rId4"/>
            </p:custDataLst>
          </p:nvPr>
        </p:nvSpPr>
        <p:spPr>
          <a:xfrm>
            <a:off x="1438275" y="2557462"/>
            <a:ext cx="1464319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Nguyễn Trí Sự</a:t>
            </a:r>
            <a:endParaRPr 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99" name="Google Shape;99;p14"/>
          <p:cNvSpPr txBox="1"/>
          <p:nvPr>
            <p:custDataLst>
              <p:tags r:id="rId5"/>
            </p:custDataLst>
          </p:nvPr>
        </p:nvSpPr>
        <p:spPr>
          <a:xfrm>
            <a:off x="1438275" y="3419475"/>
            <a:ext cx="1552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Lê Thành Danh</a:t>
            </a:r>
            <a:endParaRPr 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0" name="Google Shape;100;p14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9150" y="4271962"/>
            <a:ext cx="381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custDataLst>
              <p:tags r:id="rId8"/>
            </p:custDataLst>
          </p:nvPr>
        </p:nvSpPr>
        <p:spPr>
          <a:xfrm>
            <a:off x="1438275" y="4271962"/>
            <a:ext cx="196884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Huỳnh Nhật Thành</a:t>
            </a:r>
            <a:endParaRPr 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03" name="Google Shape;103;p14"/>
          <p:cNvSpPr txBox="1"/>
          <p:nvPr>
            <p:custDataLst>
              <p:tags r:id="rId9"/>
            </p:custDataLst>
          </p:nvPr>
        </p:nvSpPr>
        <p:spPr>
          <a:xfrm>
            <a:off x="1438275" y="5129212"/>
            <a:ext cx="21179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Nguyễn Quốc Thuận</a:t>
            </a:r>
            <a:endParaRPr 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Thành Viên Nhóm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1400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pic>
        <p:nvPicPr>
          <p:cNvPr id="3" name="Google Shape;100;p14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9150" y="5129847"/>
            <a:ext cx="381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14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9150" y="3415347"/>
            <a:ext cx="381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7;p14"/>
          <p:cNvSpPr txBox="1"/>
          <p:nvPr>
            <p:custDataLst>
              <p:tags r:id="rId12"/>
            </p:custDataLst>
          </p:nvPr>
        </p:nvSpPr>
        <p:spPr>
          <a:xfrm>
            <a:off x="4244349" y="2558097"/>
            <a:ext cx="146431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3123580041</a:t>
            </a:r>
            <a:endParaRPr lang="vi-VN" alt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7" name="Google Shape;97;p14"/>
          <p:cNvSpPr txBox="1"/>
          <p:nvPr>
            <p:custDataLst>
              <p:tags r:id="rId13"/>
            </p:custDataLst>
          </p:nvPr>
        </p:nvSpPr>
        <p:spPr>
          <a:xfrm>
            <a:off x="4244340" y="3414077"/>
            <a:ext cx="1464319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31235800</a:t>
            </a: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05</a:t>
            </a:r>
            <a:endParaRPr lang="vi-VN" alt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8" name="Google Shape;97;p14"/>
          <p:cNvSpPr txBox="1"/>
          <p:nvPr>
            <p:custDataLst>
              <p:tags r:id="rId14"/>
            </p:custDataLst>
          </p:nvPr>
        </p:nvSpPr>
        <p:spPr>
          <a:xfrm>
            <a:off x="4267209" y="4271962"/>
            <a:ext cx="146431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312358004</a:t>
            </a: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4</a:t>
            </a:r>
            <a:endParaRPr lang="vi-VN" alt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9" name="Google Shape;97;p14"/>
          <p:cNvSpPr txBox="1"/>
          <p:nvPr>
            <p:custDataLst>
              <p:tags r:id="rId15"/>
            </p:custDataLst>
          </p:nvPr>
        </p:nvSpPr>
        <p:spPr>
          <a:xfrm>
            <a:off x="4267209" y="5129847"/>
            <a:ext cx="146431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312358004</a:t>
            </a:r>
            <a:r>
              <a:rPr lang="vi-VN" altLang="en-US" sz="1800" b="0" i="0" u="none" strike="noStrike" cap="none">
                <a:solidFill>
                  <a:srgbClr val="334155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8</a:t>
            </a:r>
            <a:endParaRPr lang="vi-VN" altLang="en-US" sz="1800" b="0" i="0" u="none" strike="noStrike" cap="none">
              <a:solidFill>
                <a:srgbClr val="334155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6759575" y="2311400"/>
            <a:ext cx="1614805" cy="637540"/>
            <a:chOff x="11721" y="3640"/>
            <a:chExt cx="2543" cy="1004"/>
          </a:xfrm>
        </p:grpSpPr>
        <p:sp>
          <p:nvSpPr>
            <p:cNvPr id="13" name="Rounded Rectangle 12"/>
            <p:cNvSpPr/>
            <p:nvPr/>
          </p:nvSpPr>
          <p:spPr>
            <a:xfrm>
              <a:off x="11721" y="3640"/>
              <a:ext cx="2452" cy="100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1812" y="3640"/>
              <a:ext cx="2452" cy="10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59575" y="3183255"/>
            <a:ext cx="1614805" cy="637540"/>
            <a:chOff x="11721" y="3640"/>
            <a:chExt cx="2543" cy="1004"/>
          </a:xfrm>
        </p:grpSpPr>
        <p:sp>
          <p:nvSpPr>
            <p:cNvPr id="18" name="Rounded Rectangle 17"/>
            <p:cNvSpPr/>
            <p:nvPr/>
          </p:nvSpPr>
          <p:spPr>
            <a:xfrm>
              <a:off x="11721" y="3640"/>
              <a:ext cx="2452" cy="100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1812" y="3640"/>
              <a:ext cx="2452" cy="10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59575" y="4055110"/>
            <a:ext cx="1614805" cy="637540"/>
            <a:chOff x="11721" y="3640"/>
            <a:chExt cx="2543" cy="1004"/>
          </a:xfrm>
        </p:grpSpPr>
        <p:sp>
          <p:nvSpPr>
            <p:cNvPr id="21" name="Rounded Rectangle 20"/>
            <p:cNvSpPr/>
            <p:nvPr/>
          </p:nvSpPr>
          <p:spPr>
            <a:xfrm>
              <a:off x="11721" y="3640"/>
              <a:ext cx="2452" cy="100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1812" y="3640"/>
              <a:ext cx="2452" cy="10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759575" y="4857750"/>
            <a:ext cx="1614805" cy="637540"/>
            <a:chOff x="11721" y="3640"/>
            <a:chExt cx="2543" cy="1004"/>
          </a:xfrm>
        </p:grpSpPr>
        <p:sp>
          <p:nvSpPr>
            <p:cNvPr id="24" name="Rounded Rectangle 23"/>
            <p:cNvSpPr/>
            <p:nvPr/>
          </p:nvSpPr>
          <p:spPr>
            <a:xfrm>
              <a:off x="11721" y="3640"/>
              <a:ext cx="2452" cy="100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1812" y="3640"/>
              <a:ext cx="2452" cy="10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71675"/>
            <a:ext cx="3492549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1971675"/>
            <a:ext cx="3492549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1971675"/>
            <a:ext cx="3492549" cy="3230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583435"/>
            <a:ext cx="11049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Quy trình KDD: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Data Selection → Preprocessing → Transformation → Modeling → Evaluation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936700" y="2266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792631" y="3219450"/>
            <a:ext cx="10502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Bối Cảnh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667125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Thương mại điện tử phát triển mạnh khiến các TTTM đối mặt với sự cạnh tranh gay gắt, đòi hỏi sự thấu hiểu khách hàng sâu sắc hơn.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0" y="2266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677506" y="3219450"/>
            <a:ext cx="8371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Vấn Đề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645074" y="3667125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Doanh nghiệp chưa hiểu rõ hành vi và nhu cầu của từng nhóm khách hàng, dẫn đến các chiến dịch marketing kém hiệu quả.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493299" y="2266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325946" y="3219450"/>
            <a:ext cx="10968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Mục Tiêu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423374" y="366712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Phân cụm khách hàng dựa trên hành vi tiêu dùng để cá nhân hóa dịch vụ, tối ưu hóa marketing và gia tăng doanh thu.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2174825" y="24574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5905500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683799" y="2457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Giới Thiệu &amp; Mục Tiêu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71500" y="1400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327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68721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738187" y="2451050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>
            <p:custDataLst>
              <p:tags r:id="rId8"/>
            </p:custDataLst>
          </p:nvPr>
        </p:nvSpPr>
        <p:spPr>
          <a:xfrm>
            <a:off x="1238250" y="2327225"/>
            <a:ext cx="4850606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1. C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ó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bao nhi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ê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u nh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ó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m kh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á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ch hàng ph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ù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hợp?</a:t>
            </a:r>
            <a:endParaRPr lang="en-US" altLang="en-GB" sz="16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42" name="Google Shape;142;p16"/>
          <p:cNvSpPr txBox="1"/>
          <p:nvPr>
            <p:custDataLst>
              <p:tags r:id="rId9"/>
            </p:custDataLst>
          </p:nvPr>
        </p:nvSpPr>
        <p:spPr>
          <a:xfrm>
            <a:off x="1238250" y="3687216"/>
            <a:ext cx="4850606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2. </a:t>
            </a:r>
            <a:r>
              <a:rPr lang="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Đ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ặc </a:t>
            </a:r>
            <a:r>
              <a:rPr lang="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đ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iểm của từng nh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ó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m là g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ì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?</a:t>
            </a:r>
            <a:endParaRPr lang="en-US" altLang="en-GB" sz="16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Câu Hỏi Nghiên Cứu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pic>
        <p:nvPicPr>
          <p:cNvPr id="1" name="Google Shape;138;p16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738822" y="381058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5;p16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962015" y="23272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6;p16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5962015" y="368721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8;p16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128702" y="2451050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39;p16"/>
          <p:cNvSpPr txBox="1"/>
          <p:nvPr>
            <p:custDataLst>
              <p:tags r:id="rId14"/>
            </p:custDataLst>
          </p:nvPr>
        </p:nvSpPr>
        <p:spPr>
          <a:xfrm>
            <a:off x="6628765" y="2327225"/>
            <a:ext cx="4850606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3. Nh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ó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m nào là kh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á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ch hàng VIP?</a:t>
            </a:r>
            <a:endParaRPr lang="en-US" altLang="en-GB" sz="16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8" name="Google Shape;142;p16"/>
          <p:cNvSpPr txBox="1"/>
          <p:nvPr>
            <p:custDataLst>
              <p:tags r:id="rId15"/>
            </p:custDataLst>
          </p:nvPr>
        </p:nvSpPr>
        <p:spPr>
          <a:xfrm>
            <a:off x="6628765" y="3687216"/>
            <a:ext cx="4850606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4. Thuật to</a:t>
            </a:r>
            <a:r>
              <a:rPr lang="en-US" altLang="en-US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á</a:t>
            </a:r>
            <a:r>
              <a:rPr lang="en-US" altLang="en-GB" sz="16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n nào cho kết quả tốt nhất?</a:t>
            </a:r>
            <a:endParaRPr lang="en-US" altLang="en-GB" sz="16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0" name="Google Shape;138;p16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129337" y="381058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2715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792634"/>
            <a:ext cx="5550693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Dataset: Mall_Customers.csv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24030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Bộ dữ liệu bao gồm thông tin của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200 khách hàng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với 5 thuộc tính chính, dữ liệu sạch, không chứa giá trị null hay trùng lặp.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2715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294129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CustomerID: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Mã định danh duy nhất.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335845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Gender: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Giới tính (Nam/Nữ).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77562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Age: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Độ tuổi của khách hàng.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419278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Annual Income: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Thu nhập hàng năm (nghìn $).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04875" y="460995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Spending Score: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Điểm hành vi chi tiêu (1–100).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Tổng Quan Dữ Liệu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1400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0289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44608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8632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2804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69758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Google Shape;120;p15"/>
          <p:cNvSpPr txBox="1"/>
          <p:nvPr/>
        </p:nvSpPr>
        <p:spPr>
          <a:xfrm>
            <a:off x="578485" y="5115560"/>
            <a:ext cx="8446135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https://www.kaggle.com/datasets/shwetabh123/mall-customers</a:t>
            </a:r>
            <a:endParaRPr lang="en-US" altLang="en-GB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568797"/>
            <a:ext cx="11049000" cy="483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454372"/>
            <a:ext cx="1160145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Phân Tích Khám Phá (EDA)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1283047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99394"/>
            <a:ext cx="3492549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299394"/>
            <a:ext cx="3492549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299394"/>
            <a:ext cx="3492549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936700" y="25946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732627" y="3547169"/>
            <a:ext cx="1170146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Encoding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994844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Chuyển đổi dữ liệu định danh sang dạng số để thuật toán xử lý.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241375" y="4686300"/>
            <a:ext cx="2152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Gender: Male = 1, Female = 0</a:t>
            </a:r>
            <a:endParaRPr lang="en-US" sz="13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0" y="25946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010864" y="3547169"/>
            <a:ext cx="217027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Feature Selection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645074" y="3994844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Lựa chọn các biến quan trọng ảnh hưởng trực tiếp đến mô hình phân cụm.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4719637" y="4960590"/>
            <a:ext cx="2752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Age, Annual Income, Spending Score</a:t>
            </a:r>
            <a:endParaRPr lang="en-US" sz="1350" b="1" i="0" u="none" strike="noStrike" cap="none">
              <a:solidFill>
                <a:srgbClr val="0F172A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493299" y="259466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984188" y="3547169"/>
            <a:ext cx="17802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Normalization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423374" y="3994844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Sử dụng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StandardScaler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để đưa dữ liệu về cùng thang đo (Mean=0, Std=1).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423374" y="468630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Giúp thuật toán dựa trên khoảng cách hoạt động chính xác.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2079575" y="278516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5905500" y="278516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683799" y="278516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Tiền Xử Lý Dữ Liệu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1400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85925"/>
            <a:ext cx="528637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685925"/>
            <a:ext cx="528637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66775" y="1981200"/>
            <a:ext cx="4930616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Các Thuật Toán Đề Xuất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629400" y="193548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Phương Pháp Đánh Giá</a:t>
            </a:r>
            <a:endParaRPr lang="en-US" sz="1800" b="1" i="0" u="none" strike="noStrike" cap="none">
              <a:solidFill>
                <a:srgbClr val="0EA5E9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629400" y="238315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Để chọn mô hình tối ưu nhất, chúng tôi sử dụng: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66775" y="246697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K-Means Clustering: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Phân chia dữ liệu thành K nhóm không chồng lấn.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866775" y="320605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Hierarchical Clustering: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Xây dựng phân cấp các cụm (Agglomerative).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3945135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DBSCAN: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Phân cụm dựa trên mật độ, xử lý nhiễu tốt.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962775" y="2952720"/>
            <a:ext cx="4362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Elbow Method: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Xác định số cụm K tối ưu bằng cách quan sát điểm gãy của WCSS.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962775" y="3644175"/>
            <a:ext cx="4362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Silhouette Score: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Bahnschrift" panose="020B0502040204020203" charset="0"/>
                <a:ea typeface="Lato" panose="020F0502020204030203"/>
                <a:cs typeface="Bahnschrift" panose="020B0502040204020203" charset="0"/>
                <a:sym typeface="Lato" panose="020F0502020204030203"/>
              </a:rPr>
              <a:t> Đánh giá độ tách biệt và sự gắn kết của các cụm.</a:t>
            </a:r>
            <a:endParaRPr lang="en-US" sz="1350" b="0" i="0" u="none" strike="noStrike" cap="none">
              <a:solidFill>
                <a:srgbClr val="475569"/>
              </a:solidFill>
              <a:latin typeface="Bahnschrift" panose="020B0502040204020203" charset="0"/>
              <a:ea typeface="Lato" panose="020F0502020204030203"/>
              <a:cs typeface="Bahnschrift" panose="020B0502040204020203" charset="0"/>
              <a:sym typeface="Lato" panose="020F0502020204030203"/>
            </a:endParaRPr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775" y="258794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332702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66775" y="406610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Bahnschrift" panose="020B0502040204020203" charset="0"/>
                <a:ea typeface="Poppins" panose="00000700000000000000"/>
                <a:cs typeface="Bahnschrift" panose="020B0502040204020203" charset="0"/>
                <a:sym typeface="Poppins" panose="00000700000000000000"/>
              </a:rPr>
              <a:t>Chiến Lược Xây Dựng Mô Hình</a:t>
            </a:r>
            <a:endParaRPr lang="en-US" sz="3150" b="1" i="0" u="none" strike="noStrike" cap="none">
              <a:solidFill>
                <a:srgbClr val="0F172A"/>
              </a:solidFill>
              <a:latin typeface="Bahnschrift" panose="020B0502040204020203" charset="0"/>
              <a:ea typeface="Poppins" panose="00000700000000000000"/>
              <a:cs typeface="Bahnschrift" panose="020B0502040204020203" charset="0"/>
              <a:sym typeface="Poppins" panose="00000700000000000000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71500" y="14001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hnschrift" panose="020B0502040204020203" charset="0"/>
              <a:ea typeface="Calibri" panose="020F0502020204030204"/>
              <a:cs typeface="Bahnschrift" panose="020B0502040204020203" charset="0"/>
              <a:sym typeface="Calibri" panose="020F0502020204030204"/>
            </a:endParaRPr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629400" y="30403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629400" y="373180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2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3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4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5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6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7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8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9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10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11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12.xml><?xml version="1.0" encoding="utf-8"?>
<p:tagLst xmlns:p="http://schemas.openxmlformats.org/presentationml/2006/main">
  <p:tag name="KSO_WM_DIAGRAM_VIRTUALLY_FRAME" val="{&quot;height&quot;:225.05,&quot;left&quot;:64.5,&quot;top&quot;:201.37496062992122,&quot;width&quot;:386.80070866141733}"/>
</p:tagLst>
</file>

<file path=ppt/tags/tag13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4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5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6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7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8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19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20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21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22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23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ags/tag24.xml><?xml version="1.0" encoding="utf-8"?>
<p:tagLst xmlns:p="http://schemas.openxmlformats.org/presentationml/2006/main">
  <p:tag name="KSO_WM_DIAGRAM_VIRTUALLY_FRAME" val="{&quot;height&quot;:287.5077952755905,&quot;left&quot;:45,&quot;top&quot;:159.24606299212599,&quot;width&quot;:434.43748031496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2152</Words>
  <Application>WPS Presentation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Bahnschrift</vt:lpstr>
      <vt:lpstr>Poppins</vt:lpstr>
      <vt:lpstr>Segoe Print</vt:lpstr>
      <vt:lpstr>Calibri</vt:lpstr>
      <vt:lpstr>Lato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Sự Nguyễn</cp:lastModifiedBy>
  <cp:revision>4</cp:revision>
  <dcterms:created xsi:type="dcterms:W3CDTF">2025-07-23T00:59:00Z</dcterms:created>
  <dcterms:modified xsi:type="dcterms:W3CDTF">2025-12-15T13:19:29Z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8A704C46A81B40B5B72F99F4959C8883_11</vt:lpwstr>
  </property>
  <property fmtid="{D5CDD505-2E9C-101B-9397-08002B2CF9AE}" pid="3" name="KSOProductBuildVer">
    <vt:lpwstr>2057-12.2.0.23158</vt:lpwstr>
  </property>
</Properties>
</file>